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92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381E"/>
                </a:solidFill>
                <a:latin typeface="Segoe UI"/>
              </a:defRPr>
            </a:pPr>
            <a:r>
              <a:rPr dirty="0"/>
              <a:t>NETGUARD CYBER SECURITY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r>
              <a:rPr dirty="0"/>
              <a:t> </a:t>
            </a:r>
            <a:r>
              <a:rPr dirty="0" err="1"/>
              <a:t>Phòng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3 </a:t>
            </a:r>
            <a:r>
              <a:rPr dirty="0" err="1"/>
              <a:t>Tầng</a:t>
            </a:r>
            <a:r>
              <a:rPr dirty="0"/>
              <a:t> &amp; Báo Cáo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An Ninh </a:t>
            </a:r>
            <a:r>
              <a:rPr dirty="0" err="1"/>
              <a:t>Mạng</a:t>
            </a:r>
            <a:endParaRPr dirty="0"/>
          </a:p>
          <a:p>
            <a:pPr>
              <a:spcBef>
                <a:spcPts val="1500"/>
              </a:spcBef>
              <a:defRPr sz="1800">
                <a:solidFill>
                  <a:srgbClr val="BDC3C7"/>
                </a:solidFill>
                <a:latin typeface="Segoe UI"/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&amp; Tra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qua VLOOKUP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Em </a:t>
            </a:r>
            <a:r>
              <a:rPr lang="en-US" dirty="0" err="1">
                <a:solidFill>
                  <a:srgbClr val="FF0000"/>
                </a:solidFill>
              </a:rPr>
              <a:t>cũng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biết</a:t>
            </a:r>
            <a:r>
              <a:rPr lang="en-US" dirty="0">
                <a:solidFill>
                  <a:srgbClr val="FF0000"/>
                </a:solidFill>
              </a:rPr>
              <a:t> 3 </a:t>
            </a:r>
            <a:r>
              <a:rPr lang="en-US" dirty="0" err="1">
                <a:solidFill>
                  <a:srgbClr val="FF0000"/>
                </a:solidFill>
              </a:rPr>
              <a:t>tầng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phòng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thủ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gì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))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em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xin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phép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dùng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AI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381E"/>
                </a:solidFill>
                <a:latin typeface="Segoe UI"/>
              </a:defRPr>
            </a:pPr>
            <a:r>
              <a:t>CHIẾN LƯỢC PHÒNG THỦ KẾT HỢP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  <a:latin typeface="Segoe UI"/>
              </a:defRPr>
            </a:pPr>
            <a:r>
              <a:t>Mô hình phòng thủ 3 tầng đảm bảo cách ly độc hại và bảo vệ dữ liệu tối thượng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3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381E"/>
                </a:solidFill>
                <a:latin typeface="Segoe UI"/>
              </a:defRPr>
            </a:pPr>
            <a:r>
              <a:t>TẦNG 1: PHÒNG THỦ BIÊN GIỚI (PERIMETER DEFENSE)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  <a:latin typeface="Segoe UI"/>
              </a:defRPr>
            </a:pPr>
            <a:r>
              <a:t>Công nghệ cốt lõi: Firewall NGFW, WAF, IPS/IDS — Lọc bỏ toàn bộ lưu lượng độc hại, tấn công DDoS và quét cổng từ cửa ngõ Internet trước khi tiếp cận hạ tầng nội bộ.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5912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Segoe UI"/>
              </a:defRPr>
            </a:pPr>
            <a:r>
              <a:rPr dirty="0"/>
              <a:t>TẦNG 2: PHÒNG THỦ MẠNG NỘI BỘ &amp; ENDPOINT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  <a:latin typeface="Segoe UI"/>
              </a:defRPr>
            </a:pPr>
            <a:r>
              <a:rPr dirty="0"/>
              <a:t>Công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: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EDR, SIEM &amp;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tách</a:t>
            </a:r>
            <a:r>
              <a:rPr dirty="0"/>
              <a:t> VLAN —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trạm</a:t>
            </a:r>
            <a:r>
              <a:rPr dirty="0"/>
              <a:t>/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.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ly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nghi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Trojan </a:t>
            </a:r>
            <a:r>
              <a:rPr dirty="0" err="1"/>
              <a:t>và</a:t>
            </a:r>
            <a:r>
              <a:rPr dirty="0"/>
              <a:t> Ransomware.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591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Segoe UI"/>
              </a:defRPr>
            </a:pPr>
            <a:r>
              <a:t>TẦNG 3: BẢO MẬT DỮ LIỆU &amp; QUY TRÌNH SOC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  <a:latin typeface="Segoe UI"/>
              </a:defRPr>
            </a:pPr>
            <a:r>
              <a:t>Công nghệ cốt lõi: Mã hóa AES-256, Backup 3-2-1 &amp; SOC Escalation — Bảo vệ tài sản dữ liệu cốt lõi, sao lưu khôi phục thảm họa và kích hoạt quy trình ứng cứu khẩn cấp từ chuyên gia an ninh.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E3F06-ED7C-6282-513D-56F8641B7DC3}"/>
              </a:ext>
            </a:extLst>
          </p:cNvPr>
          <p:cNvSpPr txBox="1"/>
          <p:nvPr/>
        </p:nvSpPr>
        <p:spPr>
          <a:xfrm>
            <a:off x="-73643" y="6671994"/>
            <a:ext cx="26308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Em </a:t>
            </a:r>
            <a:r>
              <a:rPr lang="en-US" sz="800" dirty="0" err="1"/>
              <a:t>cũng</a:t>
            </a:r>
            <a:r>
              <a:rPr lang="en-US" sz="800" dirty="0"/>
              <a:t> </a:t>
            </a:r>
            <a:r>
              <a:rPr lang="en-US" sz="800" dirty="0" err="1"/>
              <a:t>chả</a:t>
            </a:r>
            <a:r>
              <a:rPr lang="en-US" sz="800" dirty="0"/>
              <a:t> </a:t>
            </a:r>
            <a:r>
              <a:rPr lang="en-US" sz="800" dirty="0" err="1"/>
              <a:t>biết</a:t>
            </a:r>
            <a:r>
              <a:rPr lang="en-US" sz="800" dirty="0"/>
              <a:t> </a:t>
            </a:r>
            <a:r>
              <a:rPr lang="en-US" sz="800" dirty="0" err="1"/>
              <a:t>phòng</a:t>
            </a:r>
            <a:r>
              <a:rPr lang="en-US" sz="800" dirty="0"/>
              <a:t> </a:t>
            </a:r>
            <a:r>
              <a:rPr lang="en-US" sz="800" dirty="0" err="1"/>
              <a:t>thủ</a:t>
            </a:r>
            <a:r>
              <a:rPr lang="en-US" sz="800" dirty="0"/>
              <a:t> 3 </a:t>
            </a:r>
            <a:r>
              <a:rPr lang="en-US" sz="800" dirty="0" err="1"/>
              <a:t>tầng</a:t>
            </a:r>
            <a:r>
              <a:rPr lang="en-US" sz="800" dirty="0"/>
              <a:t> </a:t>
            </a:r>
            <a:r>
              <a:rPr lang="en-US" sz="800" dirty="0" err="1"/>
              <a:t>là</a:t>
            </a:r>
            <a:r>
              <a:rPr lang="en-US" sz="800" dirty="0"/>
              <a:t> </a:t>
            </a:r>
            <a:r>
              <a:rPr lang="en-US" sz="800" dirty="0" err="1"/>
              <a:t>gì</a:t>
            </a:r>
            <a:r>
              <a:rPr lang="en-US" sz="800" dirty="0"/>
              <a:t> </a:t>
            </a:r>
            <a:r>
              <a:rPr lang="en-US" sz="800" dirty="0">
                <a:sym typeface="Wingdings" panose="05000000000000000000" pitchFamily="2" charset="2"/>
              </a:rPr>
              <a:t>:))) (</a:t>
            </a:r>
            <a:r>
              <a:rPr lang="en-US" sz="800" dirty="0" err="1">
                <a:sym typeface="Wingdings" panose="05000000000000000000" pitchFamily="2" charset="2"/>
              </a:rPr>
              <a:t>Bài</a:t>
            </a:r>
            <a:r>
              <a:rPr lang="en-US" sz="800" dirty="0">
                <a:sym typeface="Wingdings" panose="05000000000000000000" pitchFamily="2" charset="2"/>
              </a:rPr>
              <a:t> </a:t>
            </a:r>
            <a:r>
              <a:rPr lang="en-US" sz="800" dirty="0" err="1">
                <a:sym typeface="Wingdings" panose="05000000000000000000" pitchFamily="2" charset="2"/>
              </a:rPr>
              <a:t>không</a:t>
            </a:r>
            <a:r>
              <a:rPr lang="en-US" sz="800" dirty="0">
                <a:sym typeface="Wingdings" panose="05000000000000000000" pitchFamily="2" charset="2"/>
              </a:rPr>
              <a:t> </a:t>
            </a:r>
            <a:r>
              <a:rPr lang="en-US" sz="800" dirty="0" err="1">
                <a:sym typeface="Wingdings" panose="05000000000000000000" pitchFamily="2" charset="2"/>
              </a:rPr>
              <a:t>cho</a:t>
            </a:r>
            <a:r>
              <a:rPr lang="en-US" sz="800" dirty="0">
                <a:sym typeface="Wingdings" panose="05000000000000000000" pitchFamily="2" charset="2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381E"/>
                </a:solidFill>
                <a:latin typeface="Segoe UI"/>
              </a:defRPr>
            </a:pPr>
            <a:r>
              <a:t>CƠ CHẾ TRUY VẤN DỮ LIỆU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  <a:latin typeface="Segoe UI"/>
              </a:defRPr>
            </a:pPr>
            <a:r>
              <a:t>AutoFilter đóng vai trò là 'Google Search của bảng tính' giúp khoanh vùng sự cố tức thì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Segoe UI"/>
              </a:defRPr>
            </a:pPr>
            <a:r>
              <a:rPr dirty="0"/>
              <a:t>🔍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Nguy </a:t>
            </a:r>
            <a:r>
              <a:rPr dirty="0" err="1"/>
              <a:t>hại</a:t>
            </a:r>
            <a:endParaRPr dirty="0"/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(Cao)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5 </a:t>
            </a:r>
            <a:r>
              <a:rPr dirty="0" err="1"/>
              <a:t>phút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2103120"/>
            <a:ext cx="2962656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Segoe UI"/>
              </a:defRPr>
            </a:pPr>
            <a:r>
              <a:rPr dirty="0"/>
              <a:t>🌐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IP </a:t>
            </a:r>
            <a:r>
              <a:rPr dirty="0" err="1"/>
              <a:t>Nguồn</a:t>
            </a:r>
            <a:endParaRPr dirty="0"/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Khoanh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trạm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nhiễm</a:t>
            </a:r>
            <a:r>
              <a:rPr dirty="0"/>
              <a:t> (VD: 192.168.1.105)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ngắt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khỏi</a:t>
            </a:r>
            <a:r>
              <a:rPr dirty="0"/>
              <a:t> </a:t>
            </a:r>
            <a:r>
              <a:rPr lang="en-US" dirty="0" err="1"/>
              <a:t>mạng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2103120"/>
            <a:ext cx="2962656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Segoe UI"/>
              </a:defRPr>
            </a:pPr>
            <a:r>
              <a:rPr dirty="0"/>
              <a:t>⚡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chí</a:t>
            </a:r>
            <a:endParaRPr dirty="0"/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381E"/>
                </a:solidFill>
                <a:latin typeface="Segoe UI"/>
              </a:defRPr>
            </a:pPr>
            <a:r>
              <a:t>CHUẨN HÓA DỮ LIỆU NHẬT KÝ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  <a:latin typeface="Segoe UI"/>
              </a:defRPr>
            </a:pPr>
            <a:r>
              <a:t>Hàm TRIM bọc VLOOKUP giúp triệt tiêu lỗi #N/A do khoảng trắng thô từ hệ thống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381E"/>
                </a:solidFill>
                <a:latin typeface="Segoe UI"/>
              </a:defRPr>
            </a:pPr>
            <a:r>
              <a:t>TRIM(Lookup_value)</a:t>
            </a:r>
          </a:p>
          <a:p>
            <a:pPr>
              <a:spcBef>
                <a:spcPts val="800"/>
              </a:spcBef>
              <a:defRPr sz="1500" b="1">
                <a:solidFill>
                  <a:srgbClr val="1B2A4A"/>
                </a:solidFill>
                <a:latin typeface="Segoe UI"/>
              </a:defRPr>
            </a:pPr>
            <a:r>
              <a:t>Triệt tiêu dấu cách thừa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Làm sạch ký tự khoảng trắng ở đầu và cuối mã độc (VD: ' MDL_2045 '), đưa về dạng chuẩn trước khi tra cứu.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381E"/>
                </a:solidFill>
                <a:latin typeface="Segoe UI"/>
              </a:defRPr>
            </a:pPr>
            <a:r>
              <a:t>VLOOKUP kết hợp</a:t>
            </a:r>
          </a:p>
          <a:p>
            <a:pPr>
              <a:spcBef>
                <a:spcPts val="800"/>
              </a:spcBef>
              <a:defRPr sz="1500" b="1">
                <a:solidFill>
                  <a:srgbClr val="1B2A4A"/>
                </a:solidFill>
                <a:latin typeface="Segoe UI"/>
              </a:defRPr>
            </a:pPr>
            <a:r>
              <a:t>Tự động hóa 100%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Kết nối dữ liệu nhật ký thô với Cơ sở dữ liệu virus gốc, tự động điền Tên mã độc, Mô tả và Mức độ nguy hại.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381E"/>
                </a:solidFill>
                <a:latin typeface="Segoe UI"/>
              </a:defRPr>
            </a:pPr>
            <a:r>
              <a:t>IFERROR Bảo vệ</a:t>
            </a:r>
          </a:p>
          <a:p>
            <a:pPr>
              <a:spcBef>
                <a:spcPts val="800"/>
              </a:spcBef>
              <a:defRPr sz="1500" b="1">
                <a:solidFill>
                  <a:srgbClr val="1B2A4A"/>
                </a:solidFill>
                <a:latin typeface="Segoe UI"/>
              </a:defRPr>
            </a:pPr>
            <a:r>
              <a:t>Không làm gián đoạn báo cáo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  <a:latin typeface="Segoe UI"/>
              </a:defRPr>
            </a:pPr>
            <a:r>
              <a:t>Thay thế lỗi #N/A bằng thông báo 'Chưa xác định', đảm bảo báo cáo xuất ra cho khách hàng luôn chuyên nghiệp.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494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Đào Tuấn Đạt</cp:lastModifiedBy>
  <cp:revision>2</cp:revision>
  <dcterms:created xsi:type="dcterms:W3CDTF">2013-01-27T09:14:16Z</dcterms:created>
  <dcterms:modified xsi:type="dcterms:W3CDTF">2026-10-26T13:44:23Z</dcterms:modified>
  <cp:category/>
</cp:coreProperties>
</file>